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640080"/>
            <a:ext cx="10908792" cy="5577840"/>
          </a:xfrm>
          <a:prstGeom prst="roundRect">
            <a:avLst>
              <a:gd name="adj" fmla="val 2000"/>
            </a:avLst>
          </a:prstGeom>
          <a:noFill/>
          <a:ln w="12700">
            <a:solidFill>
              <a:srgbClr val="1B25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48840"/>
            <a:ext cx="109728" cy="18288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5400" b="1">
                <a:solidFill>
                  <a:srgbClr val="E6EDF3"/>
                </a:solidFill>
                <a:latin typeface="Segoe UI"/>
              </a:rPr>
              <a:t>Splunk Nexus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" y="320040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00D4FF"/>
                </a:solidFill>
                <a:latin typeface="Segoe UI"/>
              </a:rPr>
              <a:t>Autonomous Enterprise Digital Twin &amp; Crisis Commander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" y="3977639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94A3B8"/>
                </a:solidFill>
                <a:latin typeface="Segoe UI"/>
              </a:rPr>
              <a:t>“What if your infrastructure could heal itself?”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4937760"/>
            <a:ext cx="2308860" cy="457200"/>
          </a:xfrm>
          <a:prstGeom prst="roundRect">
            <a:avLst>
              <a:gd name="adj" fmla="val 8000"/>
            </a:avLst>
          </a:prstGeom>
          <a:solidFill>
            <a:srgbClr val="141B2D"/>
          </a:solidFill>
          <a:ln w="15875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937760"/>
            <a:ext cx="23088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E6EDF3"/>
                </a:solidFill>
                <a:latin typeface="Segoe UI"/>
              </a:rPr>
              <a:t>Mission Control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34740" y="4937760"/>
            <a:ext cx="1815084" cy="457200"/>
          </a:xfrm>
          <a:prstGeom prst="roundRect">
            <a:avLst>
              <a:gd name="adj" fmla="val 8000"/>
            </a:avLst>
          </a:prstGeom>
          <a:solidFill>
            <a:srgbClr val="141B2D"/>
          </a:solidFill>
          <a:ln w="15875">
            <a:solidFill>
              <a:srgbClr val="A85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34740" y="4937760"/>
            <a:ext cx="181508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E6EDF3"/>
                </a:solidFill>
                <a:latin typeface="Segoe UI"/>
              </a:rPr>
              <a:t>7 AI Agents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78424" y="4937760"/>
            <a:ext cx="1691640" cy="457200"/>
          </a:xfrm>
          <a:prstGeom prst="roundRect">
            <a:avLst>
              <a:gd name="adj" fmla="val 8000"/>
            </a:avLst>
          </a:prstGeom>
          <a:solidFill>
            <a:srgbClr val="141B2D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78424" y="4937760"/>
            <a:ext cx="1691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E6EDF3"/>
                </a:solidFill>
                <a:latin typeface="Segoe UI"/>
              </a:rPr>
              <a:t>Predictive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98664" y="4937760"/>
            <a:ext cx="1938528" cy="457200"/>
          </a:xfrm>
          <a:prstGeom prst="roundRect">
            <a:avLst>
              <a:gd name="adj" fmla="val 8000"/>
            </a:avLst>
          </a:prstGeom>
          <a:solidFill>
            <a:srgbClr val="141B2D"/>
          </a:solidFill>
          <a:ln w="15875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98664" y="4937760"/>
            <a:ext cx="193852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E6EDF3"/>
                </a:solidFill>
                <a:latin typeface="Segoe UI"/>
              </a:rPr>
              <a:t>Self-Healing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4A3B8"/>
                </a:solidFill>
                <a:latin typeface="Consolas"/>
              </a:rPr>
              <a:t>Splunk Nexus 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0" y="641908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4A3B8"/>
                </a:solidFill>
                <a:latin typeface="Consola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EF4444"/>
                </a:solidFill>
                <a:latin typeface="Segoe U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E6EDF3"/>
                </a:solidFill>
                <a:latin typeface="Segoe UI"/>
              </a:rPr>
              <a:t>Enterprise Infrastructure is Broken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1280160" cy="54864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109728" cy="566928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E6EDF3"/>
                </a:solidFill>
                <a:latin typeface="Segoe UI"/>
              </a:rPr>
              <a:t>20+ microservices  </a:t>
            </a:r>
            <a:r>
              <a:rPr sz="1500" b="0">
                <a:solidFill>
                  <a:srgbClr val="94A3B8"/>
                </a:solidFill>
                <a:latin typeface="Segoe UI"/>
              </a:rPr>
              <a:t>— generating millions of events daily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313432"/>
            <a:ext cx="109728" cy="566928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13432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E6EDF3"/>
                </a:solidFill>
                <a:latin typeface="Segoe UI"/>
              </a:rPr>
              <a:t>MTTR averages 45+ minutes  </a:t>
            </a:r>
            <a:r>
              <a:rPr sz="1500" b="0">
                <a:solidFill>
                  <a:srgbClr val="94A3B8"/>
                </a:solidFill>
                <a:latin typeface="Segoe UI"/>
              </a:rPr>
              <a:t>— with traditional monitoring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026664"/>
            <a:ext cx="109728" cy="566928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026664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E6EDF3"/>
                </a:solidFill>
                <a:latin typeface="Segoe UI"/>
              </a:rPr>
              <a:t>Alert fatigue  </a:t>
            </a:r>
            <a:r>
              <a:rPr sz="1500" b="0">
                <a:solidFill>
                  <a:srgbClr val="94A3B8"/>
                </a:solidFill>
                <a:latin typeface="Segoe UI"/>
              </a:rPr>
              <a:t>— teams drowning in noise, missing real signals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739896"/>
            <a:ext cx="109728" cy="566928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739896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E6EDF3"/>
                </a:solidFill>
                <a:latin typeface="Segoe UI"/>
              </a:rPr>
              <a:t>Reactive firefighting  </a:t>
            </a:r>
            <a:r>
              <a:rPr sz="1500" b="0">
                <a:solidFill>
                  <a:srgbClr val="94A3B8"/>
                </a:solidFill>
                <a:latin typeface="Segoe UI"/>
              </a:rPr>
              <a:t>— users are impacted before you even detect it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453128"/>
            <a:ext cx="109728" cy="566928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45312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E6EDF3"/>
                </a:solidFill>
                <a:latin typeface="Segoe UI"/>
              </a:rPr>
              <a:t>Security threats  </a:t>
            </a:r>
            <a:r>
              <a:rPr sz="1500" b="0">
                <a:solidFill>
                  <a:srgbClr val="94A3B8"/>
                </a:solidFill>
                <a:latin typeface="Segoe UI"/>
              </a:rPr>
              <a:t>— evolve faster than human response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532120"/>
            <a:ext cx="10908792" cy="640080"/>
          </a:xfrm>
          <a:prstGeom prst="roundRect">
            <a:avLst>
              <a:gd name="adj" fmla="val 8000"/>
            </a:avLst>
          </a:prstGeom>
          <a:solidFill>
            <a:srgbClr val="141B2D"/>
          </a:solidFill>
          <a:ln w="1270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532120"/>
            <a:ext cx="103327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E6EDF3"/>
                </a:solidFill>
                <a:latin typeface="Segoe UI"/>
              </a:rPr>
              <a:t>“Every minute of downtime costs enterprises $5,600 on average”  </a:t>
            </a:r>
            <a:r>
              <a:rPr sz="1300" b="0">
                <a:solidFill>
                  <a:srgbClr val="94A3B8"/>
                </a:solidFill>
                <a:latin typeface="Segoe UI"/>
              </a:rPr>
              <a:t>— Gartner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4A3B8"/>
                </a:solidFill>
                <a:latin typeface="Consolas"/>
              </a:rPr>
              <a:t>Splunk Nexus 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641908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4A3B8"/>
                </a:solidFill>
                <a:latin typeface="Consola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22C55E"/>
                </a:solidFill>
                <a:latin typeface="Segoe UI"/>
              </a:rPr>
              <a:t>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E6EDF3"/>
                </a:solidFill>
                <a:latin typeface="Segoe UI"/>
              </a:rPr>
              <a:t>A Self-Healing Enterprise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1280160" cy="54864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94A3B8"/>
                </a:solidFill>
                <a:latin typeface="Segoe UI"/>
              </a:rPr>
              <a:t>Splunk Nexus AI creates an </a:t>
            </a:r>
            <a:r>
              <a:rPr sz="1600" b="1">
                <a:solidFill>
                  <a:srgbClr val="00D4FF"/>
                </a:solidFill>
                <a:latin typeface="Segoe UI"/>
              </a:rPr>
              <a:t>autonomous digital twin</a:t>
            </a:r>
            <a:r>
              <a:rPr sz="1600" b="0">
                <a:solidFill>
                  <a:srgbClr val="94A3B8"/>
                </a:solidFill>
                <a:latin typeface="Segoe UI"/>
              </a:rPr>
              <a:t> of your infrastructure with </a:t>
            </a:r>
            <a:r>
              <a:rPr sz="1600" b="1">
                <a:solidFill>
                  <a:srgbClr val="A855F7"/>
                </a:solidFill>
                <a:latin typeface="Segoe UI"/>
              </a:rPr>
              <a:t>7 specialized AI agents</a:t>
            </a:r>
            <a:r>
              <a:rPr sz="1600" b="0">
                <a:solidFill>
                  <a:srgbClr val="94A3B8"/>
                </a:solidFill>
                <a:latin typeface="Segoe UI"/>
              </a:rPr>
              <a:t> that work together to: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423160"/>
            <a:ext cx="2011680" cy="2834640"/>
          </a:xfrm>
          <a:prstGeom prst="roundRect">
            <a:avLst>
              <a:gd name="adj" fmla="val 8000"/>
            </a:avLst>
          </a:prstGeom>
          <a:solidFill>
            <a:srgbClr val="141B2D"/>
          </a:solidFill>
          <a:ln w="15875">
            <a:solidFill>
              <a:srgbClr val="A85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697480"/>
            <a:ext cx="1737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A855F7"/>
                </a:solidFill>
                <a:latin typeface="Segoe U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337560"/>
            <a:ext cx="1737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E6EDF3"/>
                </a:solidFill>
                <a:latin typeface="Segoe UI"/>
              </a:rPr>
              <a:t>Predict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94760"/>
            <a:ext cx="1737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94A3B8"/>
                </a:solidFill>
                <a:latin typeface="Segoe UI"/>
              </a:rPr>
              <a:t>failures before they happen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4736592"/>
            <a:ext cx="1554480" cy="384048"/>
          </a:xfrm>
          <a:prstGeom prst="roundRect">
            <a:avLst>
              <a:gd name="adj" fmla="val 8000"/>
            </a:avLst>
          </a:prstGeom>
          <a:solidFill>
            <a:srgbClr val="1B2540"/>
          </a:solidFill>
          <a:ln w="12700">
            <a:solidFill>
              <a:srgbClr val="A85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736592"/>
            <a:ext cx="1554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A855F7"/>
                </a:solidFill>
                <a:latin typeface="Consolas"/>
              </a:rPr>
              <a:t>89% accuracy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16352" y="2423160"/>
            <a:ext cx="2011680" cy="2834640"/>
          </a:xfrm>
          <a:prstGeom prst="roundRect">
            <a:avLst>
              <a:gd name="adj" fmla="val 8000"/>
            </a:avLst>
          </a:prstGeom>
          <a:solidFill>
            <a:srgbClr val="141B2D"/>
          </a:solidFill>
          <a:ln w="15875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53512" y="2697480"/>
            <a:ext cx="1737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00D4FF"/>
                </a:solidFill>
                <a:latin typeface="Segoe U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53512" y="3337560"/>
            <a:ext cx="1737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E6EDF3"/>
                </a:solidFill>
                <a:latin typeface="Segoe UI"/>
              </a:rPr>
              <a:t>Detect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53512" y="3794760"/>
            <a:ext cx="1737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94A3B8"/>
                </a:solidFill>
                <a:latin typeface="Segoe UI"/>
              </a:rPr>
              <a:t>incidents in under 5 minutes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044952" y="4736592"/>
            <a:ext cx="1554480" cy="384048"/>
          </a:xfrm>
          <a:prstGeom prst="roundRect">
            <a:avLst>
              <a:gd name="adj" fmla="val 8000"/>
            </a:avLst>
          </a:prstGeom>
          <a:solidFill>
            <a:srgbClr val="1B2540"/>
          </a:solidFill>
          <a:ln w="1270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44952" y="4736592"/>
            <a:ext cx="1554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00D4FF"/>
                </a:solidFill>
                <a:latin typeface="Consolas"/>
              </a:rPr>
              <a:t>4.2 min MTTD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992624" y="2423160"/>
            <a:ext cx="2011680" cy="2834640"/>
          </a:xfrm>
          <a:prstGeom prst="roundRect">
            <a:avLst>
              <a:gd name="adj" fmla="val 8000"/>
            </a:avLst>
          </a:prstGeom>
          <a:solidFill>
            <a:srgbClr val="141B2D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29784" y="2697480"/>
            <a:ext cx="1737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59E0B"/>
                </a:solidFill>
                <a:latin typeface="Segoe U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9784" y="3337560"/>
            <a:ext cx="1737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E6EDF3"/>
                </a:solidFill>
                <a:latin typeface="Segoe UI"/>
              </a:rPr>
              <a:t>Diagnose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3794760"/>
            <a:ext cx="1737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94A3B8"/>
                </a:solidFill>
                <a:latin typeface="Segoe UI"/>
              </a:rPr>
              <a:t>root causes automatically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221224" y="4736592"/>
            <a:ext cx="1554480" cy="384048"/>
          </a:xfrm>
          <a:prstGeom prst="roundRect">
            <a:avLst>
              <a:gd name="adj" fmla="val 8000"/>
            </a:avLst>
          </a:prstGeom>
          <a:solidFill>
            <a:srgbClr val="1B2540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221224" y="4736592"/>
            <a:ext cx="1554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F59E0B"/>
                </a:solidFill>
                <a:latin typeface="Consolas"/>
              </a:rPr>
              <a:t>94% confidence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68896" y="2423160"/>
            <a:ext cx="2011680" cy="2834640"/>
          </a:xfrm>
          <a:prstGeom prst="roundRect">
            <a:avLst>
              <a:gd name="adj" fmla="val 8000"/>
            </a:avLst>
          </a:prstGeom>
          <a:solidFill>
            <a:srgbClr val="141B2D"/>
          </a:solidFill>
          <a:ln w="15875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06056" y="2697480"/>
            <a:ext cx="1737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22C55E"/>
                </a:solidFill>
                <a:latin typeface="Segoe U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06056" y="3337560"/>
            <a:ext cx="1737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E6EDF3"/>
                </a:solidFill>
                <a:latin typeface="Segoe UI"/>
              </a:rPr>
              <a:t>Fix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06056" y="3794760"/>
            <a:ext cx="1737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94A3B8"/>
                </a:solidFill>
                <a:latin typeface="Segoe UI"/>
              </a:rPr>
              <a:t>without human intervention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97496" y="4736592"/>
            <a:ext cx="1554480" cy="384048"/>
          </a:xfrm>
          <a:prstGeom prst="roundRect">
            <a:avLst>
              <a:gd name="adj" fmla="val 8000"/>
            </a:avLst>
          </a:prstGeom>
          <a:solidFill>
            <a:srgbClr val="1B2540"/>
          </a:solidFill>
          <a:ln w="127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97496" y="4736592"/>
            <a:ext cx="1554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22C55E"/>
                </a:solidFill>
                <a:latin typeface="Consolas"/>
              </a:rPr>
              <a:t>87.5% automation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345168" y="2423160"/>
            <a:ext cx="2011680" cy="2834640"/>
          </a:xfrm>
          <a:prstGeom prst="roundRect">
            <a:avLst>
              <a:gd name="adj" fmla="val 8000"/>
            </a:avLst>
          </a:prstGeom>
          <a:solidFill>
            <a:srgbClr val="141B2D"/>
          </a:solidFill>
          <a:ln w="15875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482328" y="2697480"/>
            <a:ext cx="1737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EF4444"/>
                </a:solidFill>
                <a:latin typeface="Segoe U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82328" y="3337560"/>
            <a:ext cx="1737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E6EDF3"/>
                </a:solidFill>
                <a:latin typeface="Segoe UI"/>
              </a:rPr>
              <a:t>Report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82328" y="3794760"/>
            <a:ext cx="1737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94A3B8"/>
                </a:solidFill>
                <a:latin typeface="Segoe UI"/>
              </a:rPr>
              <a:t>business impact in real-time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573768" y="4736592"/>
            <a:ext cx="1554480" cy="384048"/>
          </a:xfrm>
          <a:prstGeom prst="roundRect">
            <a:avLst>
              <a:gd name="adj" fmla="val 8000"/>
            </a:avLst>
          </a:prstGeom>
          <a:solidFill>
            <a:srgbClr val="1B2540"/>
          </a:solidFill>
          <a:ln w="1270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573768" y="4736592"/>
            <a:ext cx="1554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EF4444"/>
                </a:solidFill>
                <a:latin typeface="Consolas"/>
              </a:rPr>
              <a:t>executive-ready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4A3B8"/>
                </a:solidFill>
                <a:latin typeface="Consolas"/>
              </a:rPr>
              <a:t>Splunk Nexus AI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7040" y="641908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4A3B8"/>
                </a:solidFill>
                <a:latin typeface="Consola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00D4FF"/>
                </a:solidFill>
                <a:latin typeface="Segoe UI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E6EDF3"/>
                </a:solidFill>
                <a:latin typeface="Segoe UI"/>
              </a:rPr>
              <a:t>Multi-Agent AI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1280160" cy="54864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6035040" cy="676656"/>
          </a:xfrm>
          <a:prstGeom prst="roundRect">
            <a:avLst>
              <a:gd name="adj" fmla="val 8000"/>
            </a:avLst>
          </a:prstGeom>
          <a:solidFill>
            <a:srgbClr val="141B2D"/>
          </a:solidFill>
          <a:ln w="15875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45920"/>
            <a:ext cx="128016" cy="676656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566928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E6EDF3"/>
                </a:solidFill>
                <a:latin typeface="Segoe UI"/>
              </a:rPr>
              <a:t>Supervisor   </a:t>
            </a:r>
            <a:r>
              <a:rPr sz="1200" b="0">
                <a:solidFill>
                  <a:srgbClr val="94A3B8"/>
                </a:solidFill>
                <a:latin typeface="Segoe UI"/>
              </a:rPr>
              <a:t>Routes to specialist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23042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94A3B8"/>
                </a:solidFill>
                <a:latin typeface="Segoe UI"/>
              </a:rPr>
              <a:t>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596896"/>
            <a:ext cx="6035040" cy="676656"/>
          </a:xfrm>
          <a:prstGeom prst="roundRect">
            <a:avLst>
              <a:gd name="adj" fmla="val 8000"/>
            </a:avLst>
          </a:prstGeom>
          <a:solidFill>
            <a:srgbClr val="141B2D"/>
          </a:solidFill>
          <a:ln w="15875">
            <a:solidFill>
              <a:srgbClr val="A85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596896"/>
            <a:ext cx="128016" cy="676656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596896"/>
            <a:ext cx="566928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E6EDF3"/>
                </a:solidFill>
                <a:latin typeface="Segoe UI"/>
              </a:rPr>
              <a:t>Root Cause Analyst   </a:t>
            </a:r>
            <a:r>
              <a:rPr sz="1200" b="0">
                <a:solidFill>
                  <a:srgbClr val="94A3B8"/>
                </a:solidFill>
                <a:latin typeface="Segoe UI"/>
              </a:rPr>
              <a:t>Splunk MCP log correlation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3255263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94A3B8"/>
                </a:solidFill>
                <a:latin typeface="Segoe UI"/>
              </a:rPr>
              <a:t>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547872"/>
            <a:ext cx="6035040" cy="676656"/>
          </a:xfrm>
          <a:prstGeom prst="roundRect">
            <a:avLst>
              <a:gd name="adj" fmla="val 8000"/>
            </a:avLst>
          </a:prstGeom>
          <a:solidFill>
            <a:srgbClr val="141B2D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3547872"/>
            <a:ext cx="128016" cy="67665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547872"/>
            <a:ext cx="566928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E6EDF3"/>
                </a:solidFill>
                <a:latin typeface="Segoe UI"/>
              </a:rPr>
              <a:t>Crisis Commander   </a:t>
            </a:r>
            <a:r>
              <a:rPr sz="1200" b="0">
                <a:solidFill>
                  <a:srgbClr val="94A3B8"/>
                </a:solidFill>
                <a:latin typeface="Segoe UI"/>
              </a:rPr>
              <a:t>Blast radius assessment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42062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94A3B8"/>
                </a:solidFill>
                <a:latin typeface="Segoe UI"/>
              </a:rPr>
              <a:t>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498848"/>
            <a:ext cx="6035040" cy="676656"/>
          </a:xfrm>
          <a:prstGeom prst="roundRect">
            <a:avLst>
              <a:gd name="adj" fmla="val 8000"/>
            </a:avLst>
          </a:prstGeom>
          <a:solidFill>
            <a:srgbClr val="141B2D"/>
          </a:solidFill>
          <a:ln w="15875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4498848"/>
            <a:ext cx="128016" cy="676656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498848"/>
            <a:ext cx="566928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E6EDF3"/>
                </a:solidFill>
                <a:latin typeface="Segoe UI"/>
              </a:rPr>
              <a:t>Remediation   </a:t>
            </a:r>
            <a:r>
              <a:rPr sz="1200" b="0">
                <a:solidFill>
                  <a:srgbClr val="94A3B8"/>
                </a:solidFill>
                <a:latin typeface="Segoe UI"/>
              </a:rPr>
              <a:t>Auto-fix &amp; validate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5157216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94A3B8"/>
                </a:solidFill>
                <a:latin typeface="Segoe UI"/>
              </a:rPr>
              <a:t>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449824"/>
            <a:ext cx="6035040" cy="676656"/>
          </a:xfrm>
          <a:prstGeom prst="roundRect">
            <a:avLst>
              <a:gd name="adj" fmla="val 8000"/>
            </a:avLst>
          </a:prstGeom>
          <a:solidFill>
            <a:srgbClr val="141B2D"/>
          </a:solidFill>
          <a:ln w="15875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5449824"/>
            <a:ext cx="128016" cy="676656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449824"/>
            <a:ext cx="566928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E6EDF3"/>
                </a:solidFill>
                <a:latin typeface="Segoe UI"/>
              </a:rPr>
              <a:t>Executive Report   </a:t>
            </a:r>
            <a:r>
              <a:rPr sz="1200" b="0">
                <a:solidFill>
                  <a:srgbClr val="94A3B8"/>
                </a:solidFill>
                <a:latin typeface="Segoe UI"/>
              </a:rPr>
              <a:t>Business impact summary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040880" y="1645920"/>
            <a:ext cx="4507992" cy="4535424"/>
          </a:xfrm>
          <a:prstGeom prst="roundRect">
            <a:avLst>
              <a:gd name="adj" fmla="val 8000"/>
            </a:avLst>
          </a:prstGeom>
          <a:solidFill>
            <a:srgbClr val="141B2D"/>
          </a:solidFill>
          <a:ln w="12700">
            <a:solidFill>
              <a:srgbClr val="1B25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0" y="1874519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00D4FF"/>
                </a:solidFill>
                <a:latin typeface="Segoe UI"/>
              </a:rPr>
              <a:t>POWERED BY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0" y="2377440"/>
            <a:ext cx="109728" cy="603504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43800" y="2377440"/>
            <a:ext cx="37947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6EDF3"/>
                </a:solidFill>
                <a:latin typeface="Segoe UI"/>
              </a:rPr>
              <a:t>Splunk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Observability data via MCP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0" y="3108960"/>
            <a:ext cx="109728" cy="603504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43800" y="3108960"/>
            <a:ext cx="37947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6EDF3"/>
                </a:solidFill>
                <a:latin typeface="Segoe UI"/>
              </a:rPr>
              <a:t>LangGraph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Stateful multi-agent orchestration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0" y="3840480"/>
            <a:ext cx="109728" cy="603504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43800" y="3840480"/>
            <a:ext cx="37947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6EDF3"/>
                </a:solidFill>
                <a:latin typeface="Segoe UI"/>
              </a:rPr>
              <a:t>Neo4j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Knowledge graph for dependencies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0" y="4572000"/>
            <a:ext cx="109728" cy="60350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543800" y="4572000"/>
            <a:ext cx="37947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6EDF3"/>
                </a:solidFill>
                <a:latin typeface="Segoe UI"/>
              </a:rPr>
              <a:t>Qdrant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Vector search for similar incidents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0" y="5303520"/>
            <a:ext cx="109728" cy="603504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43800" y="5303520"/>
            <a:ext cx="37947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6EDF3"/>
                </a:solidFill>
                <a:latin typeface="Segoe UI"/>
              </a:rPr>
              <a:t>Google Gemini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Fast, accurate LLM reasoning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4A3B8"/>
                </a:solidFill>
                <a:latin typeface="Consolas"/>
              </a:rPr>
              <a:t>Splunk Nexus AI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7040" y="641908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4A3B8"/>
                </a:solidFill>
                <a:latin typeface="Consola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59E0B"/>
                </a:solidFill>
                <a:latin typeface="Segoe UI"/>
              </a:rPr>
              <a:t>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E6EDF3"/>
                </a:solidFill>
                <a:latin typeface="Segoe UI"/>
              </a:rPr>
              <a:t>What You Just Saw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128016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4206240" cy="749808"/>
          </a:xfrm>
          <a:prstGeom prst="roundRect">
            <a:avLst>
              <a:gd name="adj" fmla="val 8000"/>
            </a:avLst>
          </a:prstGeom>
          <a:solidFill>
            <a:srgbClr val="141B2D"/>
          </a:solidFill>
          <a:ln w="15875">
            <a:solidFill>
              <a:srgbClr val="A85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3749039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A855F7"/>
                </a:solidFill>
                <a:latin typeface="Segoe UI"/>
              </a:rPr>
              <a:t>Predictive Detection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83480" y="1783080"/>
            <a:ext cx="6565392" cy="749808"/>
          </a:xfrm>
          <a:prstGeom prst="roundRect">
            <a:avLst>
              <a:gd name="adj" fmla="val 8000"/>
            </a:avLst>
          </a:prstGeom>
          <a:solidFill>
            <a:srgbClr val="1B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57800" y="1783080"/>
            <a:ext cx="603504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E6EDF3"/>
                </a:solidFill>
                <a:latin typeface="Segoe UI"/>
              </a:rPr>
              <a:t>Payment failure predicted 2 hours early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679191"/>
            <a:ext cx="4206240" cy="749808"/>
          </a:xfrm>
          <a:prstGeom prst="roundRect">
            <a:avLst>
              <a:gd name="adj" fmla="val 8000"/>
            </a:avLst>
          </a:prstGeom>
          <a:solidFill>
            <a:srgbClr val="141B2D"/>
          </a:solidFill>
          <a:ln w="15875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679191"/>
            <a:ext cx="3749039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00D4FF"/>
                </a:solidFill>
                <a:latin typeface="Segoe UI"/>
              </a:rPr>
              <a:t>Root Cause Analysis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83480" y="2679191"/>
            <a:ext cx="6565392" cy="749808"/>
          </a:xfrm>
          <a:prstGeom prst="roundRect">
            <a:avLst>
              <a:gd name="adj" fmla="val 8000"/>
            </a:avLst>
          </a:prstGeom>
          <a:solidFill>
            <a:srgbClr val="1B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57800" y="2679191"/>
            <a:ext cx="603504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E6EDF3"/>
                </a:solidFill>
                <a:latin typeface="Segoe UI"/>
              </a:rPr>
              <a:t>Identified in 2 min (94% confidence)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575303"/>
            <a:ext cx="4206240" cy="749808"/>
          </a:xfrm>
          <a:prstGeom prst="roundRect">
            <a:avLst>
              <a:gd name="adj" fmla="val 8000"/>
            </a:avLst>
          </a:prstGeom>
          <a:solidFill>
            <a:srgbClr val="141B2D"/>
          </a:solidFill>
          <a:ln w="15875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575303"/>
            <a:ext cx="3749039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22C55E"/>
                </a:solidFill>
                <a:latin typeface="Segoe UI"/>
              </a:rPr>
              <a:t>Autonomous Remediation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83480" y="3575303"/>
            <a:ext cx="6565392" cy="749808"/>
          </a:xfrm>
          <a:prstGeom prst="roundRect">
            <a:avLst>
              <a:gd name="adj" fmla="val 8000"/>
            </a:avLst>
          </a:prstGeom>
          <a:solidFill>
            <a:srgbClr val="1B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57800" y="3575303"/>
            <a:ext cx="603504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E6EDF3"/>
                </a:solidFill>
                <a:latin typeface="Segoe UI"/>
              </a:rPr>
              <a:t>Fixed in 4.2 min (no human intervention)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471416"/>
            <a:ext cx="4206240" cy="749808"/>
          </a:xfrm>
          <a:prstGeom prst="roundRect">
            <a:avLst>
              <a:gd name="adj" fmla="val 8000"/>
            </a:avLst>
          </a:prstGeom>
          <a:solidFill>
            <a:srgbClr val="141B2D"/>
          </a:solidFill>
          <a:ln w="15875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471416"/>
            <a:ext cx="3749039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EF4444"/>
                </a:solidFill>
                <a:latin typeface="Segoe UI"/>
              </a:rPr>
              <a:t>Security Response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983480" y="4471416"/>
            <a:ext cx="6565392" cy="749808"/>
          </a:xfrm>
          <a:prstGeom prst="roundRect">
            <a:avLst>
              <a:gd name="adj" fmla="val 8000"/>
            </a:avLst>
          </a:prstGeom>
          <a:solidFill>
            <a:srgbClr val="1B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57800" y="4471416"/>
            <a:ext cx="603504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E6EDF3"/>
                </a:solidFill>
                <a:latin typeface="Segoe UI"/>
              </a:rPr>
              <a:t>847 attack attempts blocked, zero breach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367527"/>
            <a:ext cx="4206240" cy="749808"/>
          </a:xfrm>
          <a:prstGeom prst="roundRect">
            <a:avLst>
              <a:gd name="adj" fmla="val 8000"/>
            </a:avLst>
          </a:prstGeom>
          <a:solidFill>
            <a:srgbClr val="141B2D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5367527"/>
            <a:ext cx="3749039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59E0B"/>
                </a:solidFill>
                <a:latin typeface="Segoe UI"/>
              </a:rPr>
              <a:t>Business Impact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983480" y="5367527"/>
            <a:ext cx="6565392" cy="749808"/>
          </a:xfrm>
          <a:prstGeom prst="roundRect">
            <a:avLst>
              <a:gd name="adj" fmla="val 8000"/>
            </a:avLst>
          </a:prstGeom>
          <a:solidFill>
            <a:srgbClr val="1B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57800" y="5367527"/>
            <a:ext cx="603504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E6EDF3"/>
                </a:solidFill>
                <a:latin typeface="Segoe UI"/>
              </a:rPr>
              <a:t>$45K revenue protected in single incident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4A3B8"/>
                </a:solidFill>
                <a:latin typeface="Consolas"/>
              </a:rPr>
              <a:t>Splunk Nexus AI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7040" y="641908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4A3B8"/>
                </a:solidFill>
                <a:latin typeface="Consola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22C55E"/>
                </a:solidFill>
                <a:latin typeface="Segoe UI"/>
              </a:rPr>
              <a:t>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E6EDF3"/>
                </a:solidFill>
                <a:latin typeface="Segoe UI"/>
              </a:rPr>
              <a:t>Measurable Business Outcomes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1280160" cy="54864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19" y="164592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94A3B8"/>
                </a:solidFill>
                <a:latin typeface="Segoe UI"/>
              </a:rPr>
              <a:t>Metric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79" y="164592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94A3B8"/>
                </a:solidFill>
                <a:latin typeface="Segoe UI"/>
              </a:rPr>
              <a:t>Before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19" y="164592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94A3B8"/>
                </a:solidFill>
                <a:latin typeface="Segoe UI"/>
              </a:rPr>
              <a:t>With Nexus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19" y="1645920"/>
            <a:ext cx="26791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94A3B8"/>
                </a:solidFill>
                <a:latin typeface="Segoe UI"/>
              </a:rPr>
              <a:t>Improvement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011680"/>
            <a:ext cx="10908792" cy="27432"/>
          </a:xfrm>
          <a:prstGeom prst="rect">
            <a:avLst/>
          </a:prstGeom>
          <a:solidFill>
            <a:srgbClr val="1B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2194560"/>
            <a:ext cx="10908792" cy="713232"/>
          </a:xfrm>
          <a:prstGeom prst="roundRect">
            <a:avLst>
              <a:gd name="adj" fmla="val 8000"/>
            </a:avLst>
          </a:prstGeom>
          <a:solidFill>
            <a:srgbClr val="14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19" y="2194560"/>
            <a:ext cx="310896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E6EDF3"/>
                </a:solidFill>
                <a:latin typeface="Segoe UI"/>
              </a:rPr>
              <a:t>MTTR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79" y="2194560"/>
            <a:ext cx="23774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94A3B8"/>
                </a:solidFill>
                <a:latin typeface="Segoe UI"/>
              </a:rPr>
              <a:t>45 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19" y="2194560"/>
            <a:ext cx="27432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E6EDF3"/>
                </a:solidFill>
                <a:latin typeface="Segoe UI"/>
              </a:rPr>
              <a:t>23 min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19" y="2194560"/>
            <a:ext cx="2679192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22C55E"/>
                </a:solidFill>
                <a:latin typeface="Segoe UI"/>
              </a:rPr>
              <a:t>↓ 62%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2999232"/>
            <a:ext cx="10908792" cy="713232"/>
          </a:xfrm>
          <a:prstGeom prst="roundRect">
            <a:avLst>
              <a:gd name="adj" fmla="val 8000"/>
            </a:avLst>
          </a:prstGeom>
          <a:solidFill>
            <a:srgbClr val="14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19" y="2999232"/>
            <a:ext cx="310896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E6EDF3"/>
                </a:solidFill>
                <a:latin typeface="Segoe UI"/>
              </a:rPr>
              <a:t>MTTD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79" y="2999232"/>
            <a:ext cx="23774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94A3B8"/>
                </a:solidFill>
                <a:latin typeface="Segoe UI"/>
              </a:rPr>
              <a:t>15 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19" y="2999232"/>
            <a:ext cx="27432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E6EDF3"/>
                </a:solidFill>
                <a:latin typeface="Segoe UI"/>
              </a:rPr>
              <a:t>4.2 min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19" y="2999232"/>
            <a:ext cx="2679192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22C55E"/>
                </a:solidFill>
                <a:latin typeface="Segoe UI"/>
              </a:rPr>
              <a:t>↓ 72%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803904"/>
            <a:ext cx="10908792" cy="713232"/>
          </a:xfrm>
          <a:prstGeom prst="roundRect">
            <a:avLst>
              <a:gd name="adj" fmla="val 8000"/>
            </a:avLst>
          </a:prstGeom>
          <a:solidFill>
            <a:srgbClr val="14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19" y="3803904"/>
            <a:ext cx="310896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E6EDF3"/>
                </a:solidFill>
                <a:latin typeface="Segoe UI"/>
              </a:rPr>
              <a:t>Automation 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79" y="3803904"/>
            <a:ext cx="23774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94A3B8"/>
                </a:solidFill>
                <a:latin typeface="Segoe UI"/>
              </a:rPr>
              <a:t>12%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19" y="3803904"/>
            <a:ext cx="27432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E6EDF3"/>
                </a:solidFill>
                <a:latin typeface="Segoe UI"/>
              </a:rPr>
              <a:t>87.5%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19" y="3803904"/>
            <a:ext cx="2679192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00D4FF"/>
                </a:solidFill>
                <a:latin typeface="Segoe UI"/>
              </a:rPr>
              <a:t>↑ 7.3x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4608576"/>
            <a:ext cx="10908792" cy="713232"/>
          </a:xfrm>
          <a:prstGeom prst="roundRect">
            <a:avLst>
              <a:gd name="adj" fmla="val 8000"/>
            </a:avLst>
          </a:prstGeom>
          <a:solidFill>
            <a:srgbClr val="14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19" y="4608576"/>
            <a:ext cx="310896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E6EDF3"/>
                </a:solidFill>
                <a:latin typeface="Segoe UI"/>
              </a:rPr>
              <a:t>Cost Avoided / week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40479" y="4608576"/>
            <a:ext cx="23774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94A3B8"/>
                </a:solidFill>
                <a:latin typeface="Segoe UI"/>
              </a:rP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19" y="4608576"/>
            <a:ext cx="27432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E6EDF3"/>
                </a:solidFill>
                <a:latin typeface="Segoe UI"/>
              </a:rPr>
              <a:t>$147,500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61119" y="4608576"/>
            <a:ext cx="2679192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F59E0B"/>
                </a:solidFill>
                <a:latin typeface="Segoe UI"/>
              </a:rPr>
              <a:t>∞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5413248"/>
            <a:ext cx="10908792" cy="713232"/>
          </a:xfrm>
          <a:prstGeom prst="roundRect">
            <a:avLst>
              <a:gd name="adj" fmla="val 8000"/>
            </a:avLst>
          </a:prstGeom>
          <a:solidFill>
            <a:srgbClr val="14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19" y="5413248"/>
            <a:ext cx="310896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E6EDF3"/>
                </a:solidFill>
                <a:latin typeface="Segoe UI"/>
              </a:rPr>
              <a:t>Security Response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40479" y="5413248"/>
            <a:ext cx="23774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94A3B8"/>
                </a:solidFill>
                <a:latin typeface="Segoe UI"/>
              </a:rPr>
              <a:t>30 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19" y="5413248"/>
            <a:ext cx="27432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E6EDF3"/>
                </a:solidFill>
                <a:latin typeface="Segoe UI"/>
              </a:rPr>
              <a:t>&lt; 1 min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61119" y="5413248"/>
            <a:ext cx="2679192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A855F7"/>
                </a:solidFill>
                <a:latin typeface="Segoe UI"/>
              </a:rPr>
              <a:t>↓ 97%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4A3B8"/>
                </a:solidFill>
                <a:latin typeface="Consolas"/>
              </a:rPr>
              <a:t>Splunk Nexus AI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607040" y="641908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4A3B8"/>
                </a:solidFill>
                <a:latin typeface="Consola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00D4FF"/>
                </a:solidFill>
                <a:latin typeface="Segoe UI"/>
              </a:rPr>
              <a:t>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E6EDF3"/>
                </a:solidFill>
                <a:latin typeface="Segoe UI"/>
              </a:rPr>
              <a:t>Production-Grade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1280160" cy="54864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5349240" cy="1024128"/>
          </a:xfrm>
          <a:prstGeom prst="roundRect">
            <a:avLst>
              <a:gd name="adj" fmla="val 8000"/>
            </a:avLst>
          </a:prstGeom>
          <a:solidFill>
            <a:srgbClr val="141B2D"/>
          </a:solidFill>
          <a:ln w="15875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45920"/>
            <a:ext cx="128016" cy="1024128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55648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94A3B8"/>
                </a:solidFill>
                <a:latin typeface="Segoe UI"/>
              </a:rPr>
              <a:t>Frontend  </a:t>
            </a:r>
            <a:r>
              <a:rPr sz="1600" b="1">
                <a:solidFill>
                  <a:srgbClr val="E6EDF3"/>
                </a:solidFill>
                <a:latin typeface="Segoe UI"/>
              </a:rPr>
              <a:t>Next.js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76272"/>
            <a:ext cx="4892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94A3B8"/>
                </a:solidFill>
                <a:latin typeface="Segoe UI"/>
              </a:rPr>
              <a:t>Server components, edge performance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816352"/>
            <a:ext cx="5349240" cy="1024128"/>
          </a:xfrm>
          <a:prstGeom prst="roundRect">
            <a:avLst>
              <a:gd name="adj" fmla="val 8000"/>
            </a:avLst>
          </a:prstGeom>
          <a:solidFill>
            <a:srgbClr val="141B2D"/>
          </a:solidFill>
          <a:ln w="15875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816352"/>
            <a:ext cx="128016" cy="1024128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926080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94A3B8"/>
                </a:solidFill>
                <a:latin typeface="Segoe UI"/>
              </a:rPr>
              <a:t>Backend  </a:t>
            </a:r>
            <a:r>
              <a:rPr sz="1600" b="1">
                <a:solidFill>
                  <a:srgbClr val="E6EDF3"/>
                </a:solidFill>
                <a:latin typeface="Segoe UI"/>
              </a:rPr>
              <a:t>FastAPI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346704"/>
            <a:ext cx="4892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94A3B8"/>
                </a:solidFill>
                <a:latin typeface="Segoe UI"/>
              </a:rPr>
              <a:t>Async, WebSocket, high performance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986784"/>
            <a:ext cx="5349240" cy="1024128"/>
          </a:xfrm>
          <a:prstGeom prst="roundRect">
            <a:avLst>
              <a:gd name="adj" fmla="val 8000"/>
            </a:avLst>
          </a:prstGeom>
          <a:solidFill>
            <a:srgbClr val="141B2D"/>
          </a:solidFill>
          <a:ln w="15875">
            <a:solidFill>
              <a:srgbClr val="A85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3986784"/>
            <a:ext cx="128016" cy="1024128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096512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94A3B8"/>
                </a:solidFill>
                <a:latin typeface="Segoe UI"/>
              </a:rPr>
              <a:t>AI Orchestration  </a:t>
            </a:r>
            <a:r>
              <a:rPr sz="1600" b="1">
                <a:solidFill>
                  <a:srgbClr val="E6EDF3"/>
                </a:solidFill>
                <a:latin typeface="Segoe UI"/>
              </a:rPr>
              <a:t>LangGraph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517136"/>
            <a:ext cx="4892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94A3B8"/>
                </a:solidFill>
                <a:latin typeface="Segoe UI"/>
              </a:rPr>
              <a:t>Stateful multi-agent workflows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157216"/>
            <a:ext cx="5349240" cy="1024128"/>
          </a:xfrm>
          <a:prstGeom prst="roundRect">
            <a:avLst>
              <a:gd name="adj" fmla="val 8000"/>
            </a:avLst>
          </a:prstGeom>
          <a:solidFill>
            <a:srgbClr val="141B2D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5157216"/>
            <a:ext cx="128016" cy="10241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266944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94A3B8"/>
                </a:solidFill>
                <a:latin typeface="Segoe UI"/>
              </a:rPr>
              <a:t>Observability  </a:t>
            </a:r>
            <a:r>
              <a:rPr sz="1600" b="1">
                <a:solidFill>
                  <a:srgbClr val="E6EDF3"/>
                </a:solidFill>
                <a:latin typeface="Segoe UI"/>
              </a:rPr>
              <a:t>Splunk MCP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687568"/>
            <a:ext cx="4892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94A3B8"/>
                </a:solidFill>
                <a:latin typeface="Segoe UI"/>
              </a:rPr>
              <a:t>Industry standard, secure access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9632" y="1645920"/>
            <a:ext cx="5349240" cy="1024128"/>
          </a:xfrm>
          <a:prstGeom prst="roundRect">
            <a:avLst>
              <a:gd name="adj" fmla="val 8000"/>
            </a:avLst>
          </a:prstGeom>
          <a:solidFill>
            <a:srgbClr val="141B2D"/>
          </a:solidFill>
          <a:ln w="15875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99632" y="1645920"/>
            <a:ext cx="128016" cy="1024128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73952" y="1755648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94A3B8"/>
                </a:solidFill>
                <a:latin typeface="Segoe UI"/>
              </a:rPr>
              <a:t>Knowledge Graph  </a:t>
            </a:r>
            <a:r>
              <a:rPr sz="1600" b="1">
                <a:solidFill>
                  <a:srgbClr val="E6EDF3"/>
                </a:solidFill>
                <a:latin typeface="Segoe UI"/>
              </a:rPr>
              <a:t>Neo4j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73952" y="2176272"/>
            <a:ext cx="4892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94A3B8"/>
                </a:solidFill>
                <a:latin typeface="Segoe UI"/>
              </a:rPr>
              <a:t>Service dependency modeling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99632" y="2816352"/>
            <a:ext cx="5349240" cy="1024128"/>
          </a:xfrm>
          <a:prstGeom prst="roundRect">
            <a:avLst>
              <a:gd name="adj" fmla="val 8000"/>
            </a:avLst>
          </a:prstGeom>
          <a:solidFill>
            <a:srgbClr val="141B2D"/>
          </a:solidFill>
          <a:ln w="15875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99632" y="2816352"/>
            <a:ext cx="128016" cy="1024128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73952" y="2926080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94A3B8"/>
                </a:solidFill>
                <a:latin typeface="Segoe UI"/>
              </a:rPr>
              <a:t>Vector Search  </a:t>
            </a:r>
            <a:r>
              <a:rPr sz="1600" b="1">
                <a:solidFill>
                  <a:srgbClr val="E6EDF3"/>
                </a:solidFill>
                <a:latin typeface="Segoe UI"/>
              </a:rPr>
              <a:t>Qdrant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73952" y="3346704"/>
            <a:ext cx="4892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94A3B8"/>
                </a:solidFill>
                <a:latin typeface="Segoe UI"/>
              </a:rPr>
              <a:t>Similar incident matching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99632" y="3986784"/>
            <a:ext cx="5349240" cy="1024128"/>
          </a:xfrm>
          <a:prstGeom prst="roundRect">
            <a:avLst>
              <a:gd name="adj" fmla="val 8000"/>
            </a:avLst>
          </a:prstGeom>
          <a:solidFill>
            <a:srgbClr val="141B2D"/>
          </a:solidFill>
          <a:ln w="15875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99632" y="3986784"/>
            <a:ext cx="128016" cy="1024128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73952" y="4096512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94A3B8"/>
                </a:solidFill>
                <a:latin typeface="Segoe UI"/>
              </a:rPr>
              <a:t>LLM  </a:t>
            </a:r>
            <a:r>
              <a:rPr sz="1600" b="1">
                <a:solidFill>
                  <a:srgbClr val="E6EDF3"/>
                </a:solidFill>
                <a:latin typeface="Segoe UI"/>
              </a:rPr>
              <a:t>Google Gemini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73952" y="4517136"/>
            <a:ext cx="4892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94A3B8"/>
                </a:solidFill>
                <a:latin typeface="Segoe UI"/>
              </a:rPr>
              <a:t>Fast, accurate reasoning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4A3B8"/>
                </a:solidFill>
                <a:latin typeface="Consolas"/>
              </a:rPr>
              <a:t>Splunk Nexus AI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7040" y="641908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4A3B8"/>
                </a:solidFill>
                <a:latin typeface="Consola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A855F7"/>
                </a:solidFill>
                <a:latin typeface="Segoe UI"/>
              </a:rPr>
              <a:t>DIFFERENTIATORS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E6EDF3"/>
                </a:solidFill>
                <a:latin typeface="Segoe UI"/>
              </a:rPr>
              <a:t>Why Splunk Nexus AI Wins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1280160" cy="54864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10908792" cy="841248"/>
          </a:xfrm>
          <a:prstGeom prst="roundRect">
            <a:avLst>
              <a:gd name="adj" fmla="val 8000"/>
            </a:avLst>
          </a:prstGeom>
          <a:solidFill>
            <a:srgbClr val="14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91640"/>
            <a:ext cx="128016" cy="841248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4400" y="1883664"/>
            <a:ext cx="457200" cy="457200"/>
          </a:xfrm>
          <a:prstGeom prst="roundRect">
            <a:avLst>
              <a:gd name="adj" fmla="val 8000"/>
            </a:avLst>
          </a:prstGeom>
          <a:solidFill>
            <a:srgbClr val="1B2540"/>
          </a:solidFill>
          <a:ln w="15875">
            <a:solidFill>
              <a:srgbClr val="A85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83664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A855F7"/>
                </a:solidFill>
                <a:latin typeface="Segoe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691640"/>
            <a:ext cx="978408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E6EDF3"/>
                </a:solidFill>
                <a:latin typeface="Segoe UI"/>
              </a:rPr>
              <a:t>Multi-Agent Collaboration  </a:t>
            </a:r>
            <a:r>
              <a:rPr sz="1300" b="0">
                <a:solidFill>
                  <a:srgbClr val="94A3B8"/>
                </a:solidFill>
                <a:latin typeface="Segoe UI"/>
              </a:rPr>
              <a:t>— Not a single chatbot, but 7 specialists working in concert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606040"/>
            <a:ext cx="10908792" cy="841248"/>
          </a:xfrm>
          <a:prstGeom prst="roundRect">
            <a:avLst>
              <a:gd name="adj" fmla="val 8000"/>
            </a:avLst>
          </a:prstGeom>
          <a:solidFill>
            <a:srgbClr val="14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2606040"/>
            <a:ext cx="128016" cy="841248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14400" y="2798064"/>
            <a:ext cx="457200" cy="457200"/>
          </a:xfrm>
          <a:prstGeom prst="roundRect">
            <a:avLst>
              <a:gd name="adj" fmla="val 8000"/>
            </a:avLst>
          </a:prstGeom>
          <a:solidFill>
            <a:srgbClr val="1B2540"/>
          </a:solidFill>
          <a:ln w="15875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798064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00D4FF"/>
                </a:solidFill>
                <a:latin typeface="Segoe U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2606040"/>
            <a:ext cx="978408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E6EDF3"/>
                </a:solidFill>
                <a:latin typeface="Segoe UI"/>
              </a:rPr>
              <a:t>Explainable AI  </a:t>
            </a:r>
            <a:r>
              <a:rPr sz="1300" b="0">
                <a:solidFill>
                  <a:srgbClr val="94A3B8"/>
                </a:solidFill>
                <a:latin typeface="Segoe UI"/>
              </a:rPr>
              <a:t>— Full decision trace for every action (compliance-ready)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520440"/>
            <a:ext cx="10908792" cy="841248"/>
          </a:xfrm>
          <a:prstGeom prst="roundRect">
            <a:avLst>
              <a:gd name="adj" fmla="val 8000"/>
            </a:avLst>
          </a:prstGeom>
          <a:solidFill>
            <a:srgbClr val="14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3520440"/>
            <a:ext cx="128016" cy="8412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14400" y="3712464"/>
            <a:ext cx="457200" cy="457200"/>
          </a:xfrm>
          <a:prstGeom prst="roundRect">
            <a:avLst>
              <a:gd name="adj" fmla="val 8000"/>
            </a:avLst>
          </a:prstGeom>
          <a:solidFill>
            <a:srgbClr val="1B2540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712464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F59E0B"/>
                </a:solidFill>
                <a:latin typeface="Segoe U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3520440"/>
            <a:ext cx="978408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E6EDF3"/>
                </a:solidFill>
                <a:latin typeface="Segoe UI"/>
              </a:rPr>
              <a:t>Predictive, Not Reactive  </a:t>
            </a:r>
            <a:r>
              <a:rPr sz="1300" b="0">
                <a:solidFill>
                  <a:srgbClr val="94A3B8"/>
                </a:solidFill>
                <a:latin typeface="Segoe UI"/>
              </a:rPr>
              <a:t>— Stops incidents before they impact users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434840"/>
            <a:ext cx="10908792" cy="841248"/>
          </a:xfrm>
          <a:prstGeom prst="roundRect">
            <a:avLst>
              <a:gd name="adj" fmla="val 8000"/>
            </a:avLst>
          </a:prstGeom>
          <a:solidFill>
            <a:srgbClr val="14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4434840"/>
            <a:ext cx="128016" cy="841248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14400" y="4626864"/>
            <a:ext cx="457200" cy="457200"/>
          </a:xfrm>
          <a:prstGeom prst="roundRect">
            <a:avLst>
              <a:gd name="adj" fmla="val 8000"/>
            </a:avLst>
          </a:prstGeom>
          <a:solidFill>
            <a:srgbClr val="1B2540"/>
          </a:solidFill>
          <a:ln w="15875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626864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22C55E"/>
                </a:solidFill>
                <a:latin typeface="Segoe U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00200" y="4434840"/>
            <a:ext cx="978408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E6EDF3"/>
                </a:solidFill>
                <a:latin typeface="Segoe UI"/>
              </a:rPr>
              <a:t>Production-Ready  </a:t>
            </a:r>
            <a:r>
              <a:rPr sz="1300" b="0">
                <a:solidFill>
                  <a:srgbClr val="94A3B8"/>
                </a:solidFill>
                <a:latin typeface="Segoe UI"/>
              </a:rPr>
              <a:t>— Docker, K8s, CI/CD, tests, full documentation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349240"/>
            <a:ext cx="10908792" cy="841248"/>
          </a:xfrm>
          <a:prstGeom prst="roundRect">
            <a:avLst>
              <a:gd name="adj" fmla="val 8000"/>
            </a:avLst>
          </a:prstGeom>
          <a:solidFill>
            <a:srgbClr val="14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" y="5349240"/>
            <a:ext cx="128016" cy="841248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14400" y="5541264"/>
            <a:ext cx="457200" cy="457200"/>
          </a:xfrm>
          <a:prstGeom prst="roundRect">
            <a:avLst>
              <a:gd name="adj" fmla="val 8000"/>
            </a:avLst>
          </a:prstGeom>
          <a:solidFill>
            <a:srgbClr val="1B2540"/>
          </a:solidFill>
          <a:ln w="15875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541264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EF4444"/>
                </a:solidFill>
                <a:latin typeface="Segoe U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00200" y="5349240"/>
            <a:ext cx="978408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E6EDF3"/>
                </a:solidFill>
                <a:latin typeface="Segoe UI"/>
              </a:rPr>
              <a:t>Splunk-Native  </a:t>
            </a:r>
            <a:r>
              <a:rPr sz="1300" b="0">
                <a:solidFill>
                  <a:srgbClr val="94A3B8"/>
                </a:solidFill>
                <a:latin typeface="Segoe UI"/>
              </a:rPr>
              <a:t>— Built on MCP for secure, standardized data access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4A3B8"/>
                </a:solidFill>
                <a:latin typeface="Consolas"/>
              </a:rPr>
              <a:t>Splunk Nexus AI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7040" y="641908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4A3B8"/>
                </a:solidFill>
                <a:latin typeface="Consola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59E0B"/>
                </a:solidFill>
                <a:latin typeface="Segoe UI"/>
              </a:rPr>
              <a:t>FUTURE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E6EDF3"/>
                </a:solidFill>
                <a:latin typeface="Segoe UI"/>
              </a:rPr>
              <a:t>Where We're Going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128016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51560" y="1920240"/>
            <a:ext cx="45720" cy="3840480"/>
          </a:xfrm>
          <a:prstGeom prst="rect">
            <a:avLst/>
          </a:prstGeom>
          <a:solidFill>
            <a:srgbClr val="1B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2084832"/>
            <a:ext cx="411480" cy="411480"/>
          </a:xfrm>
          <a:prstGeom prst="ellipse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554480" y="1920240"/>
            <a:ext cx="9966960" cy="786384"/>
          </a:xfrm>
          <a:prstGeom prst="roundRect">
            <a:avLst>
              <a:gd name="adj" fmla="val 8000"/>
            </a:avLst>
          </a:prstGeom>
          <a:solidFill>
            <a:srgbClr val="141B2D"/>
          </a:solidFill>
          <a:ln w="15875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83080" y="1920240"/>
            <a:ext cx="950976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0D4FF"/>
                </a:solidFill>
                <a:latin typeface="Segoe UI"/>
              </a:rPr>
              <a:t>Phase 2   </a:t>
            </a:r>
            <a:r>
              <a:rPr sz="1400" b="0">
                <a:solidFill>
                  <a:srgbClr val="E6EDF3"/>
                </a:solidFill>
                <a:latin typeface="Segoe UI"/>
              </a:rPr>
              <a:t>Real-time Splunk MCP integration with live customer data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3044952"/>
            <a:ext cx="411480" cy="411480"/>
          </a:xfrm>
          <a:prstGeom prst="ellipse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554480" y="2880360"/>
            <a:ext cx="9966960" cy="786384"/>
          </a:xfrm>
          <a:prstGeom prst="roundRect">
            <a:avLst>
              <a:gd name="adj" fmla="val 8000"/>
            </a:avLst>
          </a:prstGeom>
          <a:solidFill>
            <a:srgbClr val="141B2D"/>
          </a:solidFill>
          <a:ln w="15875">
            <a:solidFill>
              <a:srgbClr val="A85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83080" y="2880360"/>
            <a:ext cx="950976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A855F7"/>
                </a:solidFill>
                <a:latin typeface="Segoe UI"/>
              </a:rPr>
              <a:t>Phase 3   </a:t>
            </a:r>
            <a:r>
              <a:rPr sz="1400" b="0">
                <a:solidFill>
                  <a:srgbClr val="E6EDF3"/>
                </a:solidFill>
                <a:latin typeface="Segoe UI"/>
              </a:rPr>
              <a:t>Federated multi-tenant deployment for MSPs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" y="4005072"/>
            <a:ext cx="411480" cy="411480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554480" y="3840480"/>
            <a:ext cx="9966960" cy="786384"/>
          </a:xfrm>
          <a:prstGeom prst="roundRect">
            <a:avLst>
              <a:gd name="adj" fmla="val 8000"/>
            </a:avLst>
          </a:prstGeom>
          <a:solidFill>
            <a:srgbClr val="141B2D"/>
          </a:solidFill>
          <a:ln w="15875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783080" y="3840480"/>
            <a:ext cx="950976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2C55E"/>
                </a:solidFill>
                <a:latin typeface="Segoe UI"/>
              </a:rPr>
              <a:t>Phase 4   </a:t>
            </a:r>
            <a:r>
              <a:rPr sz="1400" b="0">
                <a:solidFill>
                  <a:srgbClr val="E6EDF3"/>
                </a:solidFill>
                <a:latin typeface="Segoe UI"/>
              </a:rPr>
              <a:t>Autonomous infrastructure optimization (cost + performance)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" y="4965192"/>
            <a:ext cx="411480" cy="41148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554480" y="4800600"/>
            <a:ext cx="9966960" cy="786384"/>
          </a:xfrm>
          <a:prstGeom prst="roundRect">
            <a:avLst>
              <a:gd name="adj" fmla="val 8000"/>
            </a:avLst>
          </a:prstGeom>
          <a:solidFill>
            <a:srgbClr val="141B2D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783080" y="4800600"/>
            <a:ext cx="950976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59E0B"/>
                </a:solidFill>
                <a:latin typeface="Segoe UI"/>
              </a:rPr>
              <a:t>Phase 5   </a:t>
            </a:r>
            <a:r>
              <a:rPr sz="1400" b="0">
                <a:solidFill>
                  <a:srgbClr val="E6EDF3"/>
                </a:solidFill>
                <a:latin typeface="Segoe UI"/>
              </a:rPr>
              <a:t>Compliance automation (SOC2, ISO 27001)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4A3B8"/>
                </a:solidFill>
                <a:latin typeface="Consolas"/>
              </a:rPr>
              <a:t>Splunk Nexus 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41908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4A3B8"/>
                </a:solidFill>
                <a:latin typeface="Consola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640080"/>
            <a:ext cx="10908792" cy="5577840"/>
          </a:xfrm>
          <a:prstGeom prst="roundRect">
            <a:avLst>
              <a:gd name="adj" fmla="val 2000"/>
            </a:avLst>
          </a:prstGeom>
          <a:noFill/>
          <a:ln w="12700">
            <a:solidFill>
              <a:srgbClr val="1B25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874519"/>
            <a:ext cx="109728" cy="155448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800" b="1">
                <a:solidFill>
                  <a:srgbClr val="E6EDF3"/>
                </a:solidFill>
                <a:latin typeface="Segoe UI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" y="27889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>
                <a:solidFill>
                  <a:srgbClr val="00D4FF"/>
                </a:solidFill>
                <a:latin typeface="Segoe UI"/>
              </a:rPr>
              <a:t>Splunk Nexus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" y="33375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94A3B8"/>
                </a:solidFill>
                <a:latin typeface="Segoe UI"/>
              </a:rPr>
              <a:t>Autonomous Enterprise Digital Twin &amp; Crisis Commander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4114800"/>
            <a:ext cx="2308860" cy="457200"/>
          </a:xfrm>
          <a:prstGeom prst="roundRect">
            <a:avLst>
              <a:gd name="adj" fmla="val 8000"/>
            </a:avLst>
          </a:prstGeom>
          <a:solidFill>
            <a:srgbClr val="141B2D"/>
          </a:solidFill>
          <a:ln w="15875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114800"/>
            <a:ext cx="23088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E6EDF3"/>
                </a:solidFill>
                <a:latin typeface="Segoe UI"/>
              </a:rPr>
              <a:t>Mission Control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34740" y="4114800"/>
            <a:ext cx="1815084" cy="457200"/>
          </a:xfrm>
          <a:prstGeom prst="roundRect">
            <a:avLst>
              <a:gd name="adj" fmla="val 8000"/>
            </a:avLst>
          </a:prstGeom>
          <a:solidFill>
            <a:srgbClr val="141B2D"/>
          </a:solidFill>
          <a:ln w="15875">
            <a:solidFill>
              <a:srgbClr val="A85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34740" y="4114800"/>
            <a:ext cx="181508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E6EDF3"/>
                </a:solidFill>
                <a:latin typeface="Segoe UI"/>
              </a:rPr>
              <a:t>7 AI Agents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78424" y="4114800"/>
            <a:ext cx="1691640" cy="457200"/>
          </a:xfrm>
          <a:prstGeom prst="roundRect">
            <a:avLst>
              <a:gd name="adj" fmla="val 8000"/>
            </a:avLst>
          </a:prstGeom>
          <a:solidFill>
            <a:srgbClr val="141B2D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78424" y="4114800"/>
            <a:ext cx="1691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E6EDF3"/>
                </a:solidFill>
                <a:latin typeface="Segoe UI"/>
              </a:rPr>
              <a:t>Predictive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98664" y="4114800"/>
            <a:ext cx="1938528" cy="457200"/>
          </a:xfrm>
          <a:prstGeom prst="roundRect">
            <a:avLst>
              <a:gd name="adj" fmla="val 8000"/>
            </a:avLst>
          </a:prstGeom>
          <a:solidFill>
            <a:srgbClr val="141B2D"/>
          </a:solidFill>
          <a:ln w="15875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98664" y="4114800"/>
            <a:ext cx="193852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E6EDF3"/>
                </a:solidFill>
                <a:latin typeface="Segoe UI"/>
              </a:rPr>
              <a:t>Self-Healing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" y="50292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E6EDF3"/>
                </a:solidFill>
                <a:latin typeface="Segoe UI"/>
              </a:rPr>
              <a:t>“The future of enterprise operations is autonomous.”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4A3B8"/>
                </a:solidFill>
                <a:latin typeface="Consolas"/>
              </a:rPr>
              <a:t>Splunk Nexus 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41908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4A3B8"/>
                </a:solidFill>
                <a:latin typeface="Consolas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